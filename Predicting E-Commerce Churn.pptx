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</ns0:sldIdLst>
  <ns0:sldSz cx="12192000" cy="6858000" type="screen4x3"/>
  <ns0:notesSz cx="6858000" cy="9144000"/>
  <ns0:embeddedFontLst>
    <ns0:embeddedFont>
      <ns0:font typeface="Inter"/>
      <ns0:bold ns1:id="rIdFont15"/>
      <ns0:regular ns1:id="rIdFont16"/>
    </ns0:embeddedFont>
    <ns0:embeddedFont>
      <ns0:font typeface="Space Grotesk"/>
      <ns0:bold ns1:id="rIdFont17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Font15" Type="http://schemas.openxmlformats.org/officeDocument/2006/relationships/font" Target="fonts/56879725-9930-4231-a95b-1028e541fcfc.fntdata" /><ns0:Relationship Id="rIdFont16" Type="http://schemas.openxmlformats.org/officeDocument/2006/relationships/font" Target="fonts/92953e4b-4fcb-4942-b26e-f779220d8a90.fntdata" /><ns0:Relationship Id="rIdFont17" Type="http://schemas.openxmlformats.org/officeDocument/2006/relationships/font" Target="fonts/9ecbf1cc-b52c-47d5-9e37-6a8b21da76e2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5118645"/>
            <a:ext cx="7620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01254"/>
            <a:ext cx="11430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38BDF8"/>
                </a:solidFill>
                <a:latin typeface="Inter"/>
              </a:rPr>
              <a:t>OLIST KAGGLE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158454"/>
            <a:ext cx="9101137" cy="16457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b="1" sz="5400" i="0" u="none">
                <a:solidFill>
                  <a:srgbClr val="F8FAFC"/>
                </a:solidFill>
                <a:latin typeface="Space Grotesk"/>
              </a:rPr>
              <a:t>Predicting Customer Churn in E-Commerce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4108995"/>
            <a:ext cx="67627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94A3B8"/>
                </a:solidFill>
                <a:latin typeface="Inter"/>
              </a:rPr>
              <a:t>A retention strategy analyzing 100,000 public marketplace orders.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337470"/>
            <a:ext cx="4480470" cy="2118270"/>
          </a:xfrm>
          <a:prstGeom prst="roundRect">
            <a:avLst>
              <a:gd name="adj" fmla="val 7194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547270" y="2154584"/>
            <a:ext cx="6035129" cy="1160115"/>
          </a:xfrm>
          <a:prstGeom prst="roundRect">
            <a:avLst>
              <a:gd name="adj" fmla="val 985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547270" y="3543300"/>
            <a:ext cx="6035129" cy="1160115"/>
          </a:xfrm>
          <a:prstGeom prst="roundRect">
            <a:avLst>
              <a:gd name="adj" fmla="val 985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547270" y="2154584"/>
            <a:ext cx="57150" cy="116011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47270" y="3543300"/>
            <a:ext cx="57150" cy="116011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1402109"/>
            <a:ext cx="4804506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Exploratory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651670"/>
            <a:ext cx="560058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Significant price variability across the platform.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3718470"/>
            <a:ext cx="4880492" cy="8228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b="1" sz="5400" i="0" u="none">
                <a:solidFill>
                  <a:srgbClr val="FFFFFF"/>
                </a:solidFill>
                <a:latin typeface="Space Grotesk"/>
              </a:rPr>
              <a:t>&gt;50%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4617541"/>
            <a:ext cx="3813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FFFFFF"/>
                </a:solidFill>
                <a:latin typeface="Inter"/>
              </a:rPr>
              <a:t>Orders with freight-to-price ratio above 20%.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09220" y="2459384"/>
            <a:ext cx="6282779" cy="2742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800" i="0" u="none">
                <a:solidFill>
                  <a:srgbClr val="0F172A"/>
                </a:solidFill>
                <a:latin typeface="Space Grotesk"/>
              </a:rPr>
              <a:t>High Demand Categories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09220" y="2809875"/>
            <a:ext cx="628277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Household, beauty, and electronic products dominated sales.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09220" y="3848100"/>
            <a:ext cx="6282779" cy="2742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800" i="0" u="none">
                <a:solidFill>
                  <a:srgbClr val="0F172A"/>
                </a:solidFill>
                <a:latin typeface="Space Grotesk"/>
              </a:rPr>
              <a:t>Low Demand Categories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09220" y="4198590"/>
            <a:ext cx="628277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Books, media, and food categories significantly lagged.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09750" y="1905000"/>
            <a:ext cx="8572500" cy="381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4550" y="2209800"/>
            <a:ext cx="7962900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09600"/>
            <a:ext cx="114300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000" i="0" u="none">
                <a:solidFill>
                  <a:srgbClr val="0F172A"/>
                </a:solidFill>
                <a:latin typeface="Space Grotesk"/>
              </a:rPr>
              <a:t>Customer Repurchase Decay Curve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219200"/>
            <a:ext cx="11430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Steep drop-off in repeat purchases over time. Inflexion point located between 90 and 200 days.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19500" y="3952875"/>
            <a:ext cx="1143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Inter"/>
              </a:rPr>
              <a:t>90-200 Days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19750" y="5448300"/>
            <a:ext cx="232171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Days Since First Purchase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66925" y="2505075"/>
            <a:ext cx="285750" cy="1276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Repeat Purchases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886075" y="4866233"/>
            <a:ext cx="6419850" cy="685800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372617"/>
            <a:ext cx="5124450" cy="2036415"/>
          </a:xfrm>
          <a:prstGeom prst="roundRect">
            <a:avLst>
              <a:gd name="adj" fmla="val 5612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57950" y="2372617"/>
            <a:ext cx="5124450" cy="2036415"/>
          </a:xfrm>
          <a:prstGeom prst="roundRect">
            <a:avLst>
              <a:gd name="adj" fmla="val 5612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2650" y="3238351"/>
            <a:ext cx="2667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7512" y="2772667"/>
            <a:ext cx="428625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9675" y="2772667"/>
            <a:ext cx="381000" cy="381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-381000" y="1305817"/>
            <a:ext cx="129540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b="1" sz="3000" i="0" u="none">
                <a:solidFill>
                  <a:srgbClr val="0F172A"/>
                </a:solidFill>
                <a:latin typeface="Space Grotesk"/>
              </a:rPr>
              <a:t>The Two-Window Churn Definition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69343" y="5094833"/>
            <a:ext cx="745331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369A1"/>
                </a:solidFill>
                <a:latin typeface="Inter"/>
              </a:rPr>
              <a:t>Strict 90-day threshold selected to effectively reduce data noise.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957" y="3382267"/>
            <a:ext cx="5875734" cy="2742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1" sz="1800" i="0" u="none">
                <a:solidFill>
                  <a:srgbClr val="0F172A"/>
                </a:solidFill>
                <a:latin typeface="Space Grotesk"/>
              </a:rPr>
              <a:t>Observation Window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856" y="3808958"/>
            <a:ext cx="55959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Inter"/>
              </a:rPr>
              <a:t>Track customer activity for $N$ days.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2307" y="3382267"/>
            <a:ext cx="5875734" cy="2742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1" sz="1800" i="0" u="none">
                <a:solidFill>
                  <a:srgbClr val="0F172A"/>
                </a:solidFill>
                <a:latin typeface="Space Grotesk"/>
              </a:rPr>
              <a:t>Prediction Window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22206" y="3808958"/>
            <a:ext cx="55959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Inter"/>
              </a:rPr>
              <a:t>Monitor subsequent $N$ days for repeat purchases.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22265"/>
            <a:ext cx="3505200" cy="1527720"/>
          </a:xfrm>
          <a:prstGeom prst="roundRect">
            <a:avLst>
              <a:gd name="adj" fmla="val 748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122265"/>
            <a:ext cx="3505200" cy="1527720"/>
          </a:xfrm>
          <a:prstGeom prst="roundRect">
            <a:avLst>
              <a:gd name="adj" fmla="val 748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122265"/>
            <a:ext cx="3505200" cy="1527720"/>
          </a:xfrm>
          <a:prstGeom prst="roundRect">
            <a:avLst>
              <a:gd name="adj" fmla="val 748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2207865"/>
            <a:ext cx="11582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000" i="0" u="none">
                <a:solidFill>
                  <a:srgbClr val="0F172A"/>
                </a:solidFill>
                <a:latin typeface="Space Grotesk"/>
              </a:rPr>
              <a:t>Data Preparation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03265"/>
            <a:ext cx="3800475" cy="2513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b="1" sz="1650" i="0" u="none">
                <a:solidFill>
                  <a:srgbClr val="0F172A"/>
                </a:solidFill>
                <a:latin typeface="Space Grotesk"/>
              </a:rPr>
              <a:t>Imputation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68935"/>
            <a:ext cx="29908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Null values replaced with zero or 'unknown'.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48200" y="3503265"/>
            <a:ext cx="3800475" cy="2513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b="1" sz="1650" i="0" u="none">
                <a:solidFill>
                  <a:srgbClr val="0F172A"/>
                </a:solidFill>
                <a:latin typeface="Space Grotesk"/>
              </a:rPr>
              <a:t>Feature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8200" y="3868935"/>
            <a:ext cx="29908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Freight ratios, delivery delays, and state income.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0" y="3503265"/>
            <a:ext cx="3800475" cy="2513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b="1" sz="1650" i="0" u="none">
                <a:solidFill>
                  <a:srgbClr val="0F172A"/>
                </a:solidFill>
                <a:latin typeface="Space Grotesk"/>
              </a:rPr>
              <a:t>Categorical Encoding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0" y="3868935"/>
            <a:ext cx="29908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One-hot encoding using drop_first for multicollinearity.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609600"/>
            <a:ext cx="5257800" cy="56388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762000"/>
            <a:ext cx="4953000" cy="533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594544"/>
            <a:ext cx="6500812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Space Grotesk"/>
              </a:rPr>
              <a:t>90-Day Model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158305"/>
            <a:ext cx="50482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Evaluated XGBoost, Random Forest, Decision Tree, and Logistic Regression.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863155"/>
            <a:ext cx="50482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XGBoost Performance</a:t>
            </a:r>
            <a:r>
              <a:rPr b="1" sz="1500" i="0" u="none">
                <a:solidFill>
                  <a:srgbClr val="0F172A"/>
                </a:solidFill>
                <a:latin typeface="Inter"/>
              </a:rPr>
              <a:t> </a:t>
            </a:r>
            <a:r>
              <a:rPr b="1" sz="1350" i="0" u="none">
                <a:solidFill>
                  <a:srgbClr val="64748B"/>
                </a:solidFill>
                <a:latin typeface="Inter"/>
              </a:rPr>
              <a:t>Highest test accuracy, yet low F1 generalization.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520380"/>
            <a:ext cx="50482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Tree Models</a:t>
            </a:r>
            <a:r>
              <a:rPr b="1" sz="1500" i="0" u="none">
                <a:solidFill>
                  <a:srgbClr val="0F172A"/>
                </a:solidFill>
                <a:latin typeface="Inter"/>
              </a:rPr>
              <a:t> </a:t>
            </a:r>
            <a:r>
              <a:rPr b="1" sz="1350" i="0" u="none">
                <a:solidFill>
                  <a:srgbClr val="64748B"/>
                </a:solidFill>
                <a:latin typeface="Inter"/>
              </a:rPr>
              <a:t>Tuned depth/estimators, still overfit heavily.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4177605"/>
            <a:ext cx="50482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Logistic Regression</a:t>
            </a:r>
            <a:r>
              <a:rPr b="1" sz="1500" i="0" u="none">
                <a:solidFill>
                  <a:srgbClr val="0F172A"/>
                </a:solidFill>
                <a:latin typeface="Inter"/>
              </a:rPr>
              <a:t> </a:t>
            </a:r>
            <a:r>
              <a:rPr b="1" sz="1350" i="0" u="none">
                <a:solidFill>
                  <a:srgbClr val="64748B"/>
                </a:solidFill>
                <a:latin typeface="Inter"/>
              </a:rPr>
              <a:t>Robust penalty applied; lowest overall performance.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834830"/>
            <a:ext cx="50482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EA580C"/>
                </a:solidFill>
                <a:latin typeface="Inter"/>
              </a:rPr>
              <a:t>Conclusion</a:t>
            </a:r>
            <a:r>
              <a:rPr b="1" sz="1500" i="0" u="none">
                <a:solidFill>
                  <a:srgbClr val="EA580C"/>
                </a:solidFill>
                <a:latin typeface="Inter"/>
              </a:rPr>
              <a:t> </a:t>
            </a:r>
            <a:r>
              <a:rPr b="1" sz="1350" i="0" u="none">
                <a:solidFill>
                  <a:srgbClr val="64748B"/>
                </a:solidFill>
                <a:latin typeface="Inter"/>
              </a:rPr>
              <a:t>Severe overfitting and multicollinearity across all algorithms.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14650"/>
            <a:ext cx="3505200" cy="1943100"/>
          </a:xfrm>
          <a:prstGeom prst="roundRect">
            <a:avLst>
              <a:gd name="adj" fmla="val 392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914650"/>
            <a:ext cx="3505200" cy="1943100"/>
          </a:xfrm>
          <a:prstGeom prst="roundRect">
            <a:avLst>
              <a:gd name="adj" fmla="val 392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914650"/>
            <a:ext cx="3505200" cy="1943100"/>
          </a:xfrm>
          <a:prstGeom prst="roundRect">
            <a:avLst>
              <a:gd name="adj" fmla="val 392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2914650"/>
            <a:ext cx="35052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43400" y="2914650"/>
            <a:ext cx="35052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77200" y="2914650"/>
            <a:ext cx="3505200" cy="381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700" y="3257550"/>
            <a:ext cx="3810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3257550"/>
            <a:ext cx="304800" cy="304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7400" y="3257550"/>
            <a:ext cx="304800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-381000" y="2000250"/>
            <a:ext cx="129540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b="1" sz="3000" i="0" u="none">
                <a:solidFill>
                  <a:srgbClr val="0F172A"/>
                </a:solidFill>
                <a:latin typeface="Space Grotesk"/>
              </a:rPr>
              <a:t>Actionable Business Strategies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950" y="3790950"/>
            <a:ext cx="40005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1" sz="1500" i="0" u="none">
                <a:solidFill>
                  <a:srgbClr val="0F172A"/>
                </a:solidFill>
                <a:latin typeface="Space Grotesk"/>
              </a:rPr>
              <a:t>Logistics Optimization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71950"/>
            <a:ext cx="381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Inter"/>
              </a:rPr>
              <a:t>Pack small products with large ones to leverage freight economies of scale.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5750" y="3790950"/>
            <a:ext cx="40005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1" sz="1500" i="0" u="none">
                <a:solidFill>
                  <a:srgbClr val="0F172A"/>
                </a:solidFill>
                <a:latin typeface="Space Grotesk"/>
              </a:rPr>
              <a:t>Strategic Bundling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91000" y="4171950"/>
            <a:ext cx="381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Inter"/>
              </a:rPr>
              <a:t>Promote least-selling categories by bundling them with high-demand items.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29550" y="3790950"/>
            <a:ext cx="40005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1" sz="1500" i="0" u="none">
                <a:solidFill>
                  <a:srgbClr val="0F172A"/>
                </a:solidFill>
                <a:latin typeface="Space Grotesk"/>
              </a:rPr>
              <a:t>Future Data Strategy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4800" y="4171950"/>
            <a:ext cx="381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Inter"/>
              </a:rPr>
              <a:t>Include behaviour-based features like session time for better explainability.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32942" y="2810767"/>
            <a:ext cx="8926115" cy="731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b="1" sz="4800" i="0" u="none">
                <a:solidFill>
                  <a:srgbClr val="F8FAFC"/>
                </a:solidFill>
                <a:latin typeface="Space Grotesk"/>
              </a:rPr>
              <a:t>Questions &amp;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452937" y="3770858"/>
            <a:ext cx="328612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94A3B8"/>
                </a:solidFill>
                <a:latin typeface="Inter"/>
              </a:rPr>
              <a:t>Thank you for your 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